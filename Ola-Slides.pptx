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9144000"/>
  <p:embeddedFontLst>
    <p:embeddedFont>
      <p:font typeface="Play" panose="020B0604020202020204" charset="0"/>
      <p:regular r:id="rId10"/>
      <p:bold r:id="rId11"/>
    </p:embeddedFont>
    <p:embeddedFont>
      <p:font typeface="Poppins" panose="000005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jLxMYFPL6U13wdrt3sR43kqoJl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8C06543-E3CC-495D-A703-477479BDC3B9}">
  <a:tblStyle styleId="{88C06543-E3CC-495D-A703-477479BDC3B9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41EA96DA-8122-71DD-1E89-7B505447D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47F8469E-FB90-D861-13D1-22DD5257B2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BCFC1FA3-40F3-5943-7454-72F6053E27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9966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97A86E45-1849-2D4F-38CB-F42CFFCA0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>
            <a:extLst>
              <a:ext uri="{FF2B5EF4-FFF2-40B4-BE49-F238E27FC236}">
                <a16:creationId xmlns:a16="http://schemas.microsoft.com/office/drawing/2014/main" id="{8B88CF41-63BC-AFFA-6837-93CE631AA1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EFD0E728-BC75-CF6C-8BD5-5043034BFB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204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8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6.png"/><Relationship Id="rId3" Type="http://schemas.openxmlformats.org/officeDocument/2006/relationships/image" Target="../media/image10.png"/><Relationship Id="rId7" Type="http://schemas.openxmlformats.org/officeDocument/2006/relationships/image" Target="../media/image24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5" Type="http://schemas.openxmlformats.org/officeDocument/2006/relationships/image" Target="../media/image18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E4BC11-C9B0-CE58-F0EB-80869FDC3C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0" t="12712" r="4558" b="12941"/>
          <a:stretch>
            <a:fillRect/>
          </a:stretch>
        </p:blipFill>
        <p:spPr>
          <a:xfrm>
            <a:off x="3072984" y="877266"/>
            <a:ext cx="9119016" cy="5098642"/>
          </a:xfrm>
          <a:prstGeom prst="rect">
            <a:avLst/>
          </a:prstGeom>
        </p:spPr>
      </p:pic>
      <p:sp>
        <p:nvSpPr>
          <p:cNvPr id="84" name="Google Shape;84;p1"/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 descr="Scatterplot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 descr="Car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7331" y="213859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 descr="Rupee with solid fil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8522" y="3431194"/>
            <a:ext cx="567128" cy="567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 descr="Crash with solid fil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7343" y="423281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 descr="Rating with solid fil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4886" y="555925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Overall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Vehicle Type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000" dirty="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Cancellation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Ratings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" descr="A white text on a black background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 descr="A yellow circle with black lines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20000"/>
          </a:srgbClr>
        </a:solidFill>
        <a:effectLst/>
      </p:bgPr>
    </p:bg>
    <p:spTree>
      <p:nvGrpSpPr>
        <p:cNvPr id="1" name="Shape 102">
          <a:extLst>
            <a:ext uri="{FF2B5EF4-FFF2-40B4-BE49-F238E27FC236}">
              <a16:creationId xmlns:a16="http://schemas.microsoft.com/office/drawing/2014/main" id="{8ED0D32A-0C3F-04AC-BEC7-A7164897F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9ADA3D-44D4-6AC3-4497-01B5F6177E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69" t="12792" r="4584" b="12967"/>
          <a:stretch>
            <a:fillRect/>
          </a:stretch>
        </p:blipFill>
        <p:spPr>
          <a:xfrm>
            <a:off x="3072985" y="862956"/>
            <a:ext cx="9119016" cy="5123083"/>
          </a:xfrm>
          <a:prstGeom prst="rect">
            <a:avLst/>
          </a:prstGeom>
        </p:spPr>
      </p:pic>
      <p:sp>
        <p:nvSpPr>
          <p:cNvPr id="104" name="Google Shape;104;p2">
            <a:extLst>
              <a:ext uri="{FF2B5EF4-FFF2-40B4-BE49-F238E27FC236}">
                <a16:creationId xmlns:a16="http://schemas.microsoft.com/office/drawing/2014/main" id="{D76707B6-1899-D625-0D73-6E341DE5D546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7892CEF7-45AA-800E-AB33-AF114CB7C029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F791AF69-A797-4E56-6FBC-3A6C20402D8D}"/>
              </a:ext>
            </a:extLst>
          </p:cNvPr>
          <p:cNvSpPr/>
          <p:nvPr/>
        </p:nvSpPr>
        <p:spPr>
          <a:xfrm>
            <a:off x="0" y="2132399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" descr="Scatterplot with solid fill">
            <a:extLst>
              <a:ext uri="{FF2B5EF4-FFF2-40B4-BE49-F238E27FC236}">
                <a16:creationId xmlns:a16="http://schemas.microsoft.com/office/drawing/2014/main" id="{AA643B3C-A3CE-048E-532C-9AFF7B50094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 descr="Car with solid fill">
            <a:extLst>
              <a:ext uri="{FF2B5EF4-FFF2-40B4-BE49-F238E27FC236}">
                <a16:creationId xmlns:a16="http://schemas.microsoft.com/office/drawing/2014/main" id="{686956C4-B3E6-BBA0-7488-D9B29A21DF3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7331" y="213859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 descr="Rupee with solid fill">
            <a:extLst>
              <a:ext uri="{FF2B5EF4-FFF2-40B4-BE49-F238E27FC236}">
                <a16:creationId xmlns:a16="http://schemas.microsoft.com/office/drawing/2014/main" id="{993B881F-2AB2-DEB9-74B0-5CB23E1ACBA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8522" y="3431194"/>
            <a:ext cx="567128" cy="567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" descr="Crash with solid fill">
            <a:extLst>
              <a:ext uri="{FF2B5EF4-FFF2-40B4-BE49-F238E27FC236}">
                <a16:creationId xmlns:a16="http://schemas.microsoft.com/office/drawing/2014/main" id="{37309C0C-A530-D7F1-F0B6-7B55E24434C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7343" y="423281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" descr="Rating with solid fill">
            <a:extLst>
              <a:ext uri="{FF2B5EF4-FFF2-40B4-BE49-F238E27FC236}">
                <a16:creationId xmlns:a16="http://schemas.microsoft.com/office/drawing/2014/main" id="{02A6D545-19B0-162D-0C68-CBCD05996720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4886" y="555925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6E3A9DD-A597-C70E-0AAC-7D34F5072AB8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Overall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" name="Google Shape;112;p2">
            <a:extLst>
              <a:ext uri="{FF2B5EF4-FFF2-40B4-BE49-F238E27FC236}">
                <a16:creationId xmlns:a16="http://schemas.microsoft.com/office/drawing/2014/main" id="{6E93A109-13CC-05EF-6CEC-8BE0ED12BF95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Vehicle Type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75F519FC-4C6A-86A3-C203-4908C671903B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114;p2">
            <a:extLst>
              <a:ext uri="{FF2B5EF4-FFF2-40B4-BE49-F238E27FC236}">
                <a16:creationId xmlns:a16="http://schemas.microsoft.com/office/drawing/2014/main" id="{3D09DE2D-202E-DF90-D8EB-F6E1B81DEF10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Cancellation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1D69E734-470E-BD78-BCA3-DB017859F4DC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Ratings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6" name="Google Shape;116;p2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D2BB8265-AFCB-E275-46C1-CE4B8749CB0B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25ECA395-FDF6-5DA3-3B6F-B2B33BF424C6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8491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0" y="2132399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" descr="Scatterplot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 descr="Car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331" y="213859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 descr="Rupee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522" y="3431194"/>
            <a:ext cx="567128" cy="567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" descr="Crash with solid fil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7343" y="423281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" descr="Rating with solid fil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4886" y="555925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"/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Overall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Vehicle Type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Cancellation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Ratings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6" name="Google Shape;116;p2" descr="A white text on a black background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" descr="A yellow circle with black lines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8" name="Google Shape;118;p2"/>
          <p:cNvGraphicFramePr/>
          <p:nvPr>
            <p:extLst>
              <p:ext uri="{D42A27DB-BD31-4B8C-83A1-F6EECF244321}">
                <p14:modId xmlns:p14="http://schemas.microsoft.com/office/powerpoint/2010/main" val="844069167"/>
              </p:ext>
            </p:extLst>
          </p:nvPr>
        </p:nvGraphicFramePr>
        <p:xfrm>
          <a:off x="3421506" y="877266"/>
          <a:ext cx="8421975" cy="5596400"/>
        </p:xfrm>
        <a:graphic>
          <a:graphicData uri="http://schemas.openxmlformats.org/drawingml/2006/table">
            <a:tbl>
              <a:tblPr firstRow="1" bandRow="1">
                <a:noFill/>
                <a:tableStyleId>{88C06543-E3CC-495D-A703-477479BDC3B9}</a:tableStyleId>
              </a:tblPr>
              <a:tblGrid>
                <a:gridCol w="166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9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Vehicle Type</a:t>
                      </a:r>
                      <a:endParaRPr sz="1600" b="1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Booking Value</a:t>
                      </a:r>
                      <a:endParaRPr sz="1600" b="1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Success Booking Value</a:t>
                      </a:r>
                      <a:endParaRPr sz="1600" b="1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Avg. Distance Travelled</a:t>
                      </a:r>
                      <a:endParaRPr sz="1600" b="1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Distance Travelled</a:t>
                      </a:r>
                      <a:endParaRPr sz="1600" b="1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Prime Sedan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 82,98,612</a:t>
                      </a:r>
                      <a:endParaRPr sz="13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3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 52,24,050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15.76 km</a:t>
                      </a:r>
                      <a:endParaRPr sz="13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2,34,535 km</a:t>
                      </a:r>
                      <a:endParaRPr sz="13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9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Prime SUV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GB" sz="13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 79,33,330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GB" sz="13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 48,76,815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15.27 km</a:t>
                      </a:r>
                      <a:endParaRPr sz="13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2,23,848 km</a:t>
                      </a:r>
                      <a:endParaRPr sz="13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9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Prime Plus</a:t>
                      </a:r>
                      <a:endParaRPr sz="13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GB" sz="13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 80,50,889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GB" sz="13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 50,15,165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15.45 km</a:t>
                      </a:r>
                      <a:endParaRPr sz="13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2,27,186 km</a:t>
                      </a:r>
                      <a:endParaRPr sz="13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9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Mini</a:t>
                      </a:r>
                      <a:endParaRPr sz="13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GB" sz="13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 79,90,996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GB" sz="13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 48,85,961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15.51 km</a:t>
                      </a:r>
                      <a:endParaRPr sz="13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2,25,703 km</a:t>
                      </a:r>
                      <a:endParaRPr sz="13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9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GB" sz="13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 80,92,210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GB" sz="13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 50,51,846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6.24 km</a:t>
                      </a:r>
                      <a:endParaRPr sz="13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92,043 km</a:t>
                      </a:r>
                      <a:endParaRPr sz="13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9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Bike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GB" sz="13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 79,87,054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GB" sz="13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 49,71,968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15.53 km</a:t>
                      </a:r>
                      <a:endParaRPr sz="13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2,27,746 km</a:t>
                      </a:r>
                      <a:endParaRPr sz="13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9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E-Bike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GB" sz="13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 81,81,523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GB" sz="13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 50,54,662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15.58 km</a:t>
                      </a:r>
                      <a:endParaRPr sz="13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2,30,842 km</a:t>
                      </a:r>
                      <a:endParaRPr sz="13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19" name="Google Shape;119;p2" descr="A black background with a black square&#10;&#10;Description automatically generated with medium confidenc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731922" y="1381482"/>
            <a:ext cx="956874" cy="956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" descr="A black background with a black square&#10;&#10;Description automatically generated with medium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818163" y="2146462"/>
            <a:ext cx="855461" cy="855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" descr="A car on a black background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574641" y="2631383"/>
            <a:ext cx="1191719" cy="1191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" descr="A black background with a black square&#10;&#10;Description automatically generated with medium confidence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806480" y="3580263"/>
            <a:ext cx="855461" cy="855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" descr="A black background with a black square&#10;&#10;Description automatically generated with medium confidence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999855" y="4401442"/>
            <a:ext cx="457234" cy="457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" descr="A black background with a black square&#10;&#10;Description automatically generated with medium confidence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872980" y="4967726"/>
            <a:ext cx="722459" cy="722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" descr="A black background with a black square&#10;&#10;Description automatically generated with medium confidence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014845" y="5785351"/>
            <a:ext cx="457234" cy="457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2329BB-F207-F6C5-F48C-60C1377341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69" t="12792" r="4687" b="12674"/>
          <a:stretch>
            <a:fillRect/>
          </a:stretch>
        </p:blipFill>
        <p:spPr>
          <a:xfrm>
            <a:off x="3072984" y="854493"/>
            <a:ext cx="9119016" cy="5149013"/>
          </a:xfrm>
          <a:prstGeom prst="rect">
            <a:avLst/>
          </a:prstGeom>
        </p:spPr>
      </p:pic>
      <p:sp>
        <p:nvSpPr>
          <p:cNvPr id="130" name="Google Shape;130;p3"/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0" y="3286975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3" descr="Scatterplot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" descr="Car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7331" y="213859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3" descr="Rupee with solid fil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8522" y="3431194"/>
            <a:ext cx="567128" cy="567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3" descr="Crash with solid fil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7343" y="423281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3" descr="Rating with solid fil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4886" y="555925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"/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Overall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Vehicle Type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Cancellation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Ratings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3" name="Google Shape;143;p3" descr="A white text on a black background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3" descr="A yellow circle with black lines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847AC0-2EAB-C7C8-43D3-20F2277E30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8" t="12950" r="4585" b="12967"/>
          <a:stretch>
            <a:fillRect/>
          </a:stretch>
        </p:blipFill>
        <p:spPr>
          <a:xfrm>
            <a:off x="3072984" y="888722"/>
            <a:ext cx="9119016" cy="5080555"/>
          </a:xfrm>
          <a:prstGeom prst="rect">
            <a:avLst/>
          </a:prstGeom>
        </p:spPr>
      </p:pic>
      <p:sp>
        <p:nvSpPr>
          <p:cNvPr id="149" name="Google Shape;149;p4"/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0" y="4369309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4" descr="Scatterplot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4" descr="Car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7331" y="213859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4" descr="Rupee with solid fil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8522" y="3431194"/>
            <a:ext cx="567128" cy="567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4" descr="Crash with solid fil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7343" y="423281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4" descr="Rating with solid fil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4886" y="555925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4"/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Overall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Vehicle Type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Cancellation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Ratings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2" name="Google Shape;162;p4" descr="A white text on a black background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4" descr="A yellow circle with black lines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51D900-E1DB-2FEC-60AD-96AFD01B7D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9" t="12791" r="4584" b="13113"/>
          <a:stretch>
            <a:fillRect/>
          </a:stretch>
        </p:blipFill>
        <p:spPr>
          <a:xfrm>
            <a:off x="3083032" y="888296"/>
            <a:ext cx="9108968" cy="5081407"/>
          </a:xfrm>
          <a:prstGeom prst="rect">
            <a:avLst/>
          </a:prstGeom>
        </p:spPr>
      </p:pic>
      <p:sp>
        <p:nvSpPr>
          <p:cNvPr id="169" name="Google Shape;169;p5"/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0" y="5530674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5" descr="Scatterplot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5" descr="Car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7331" y="213859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5" descr="Rupee with solid fil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8522" y="3431194"/>
            <a:ext cx="567128" cy="567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5" descr="Crash with solid fil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7343" y="423281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5" descr="Rating with solid fil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4886" y="555925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5"/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Overall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Vehicle Type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Cancellation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Ratings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2" name="Google Shape;182;p5" descr="A white text on a black background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5" descr="A yellow circle with black lines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167">
          <a:extLst>
            <a:ext uri="{FF2B5EF4-FFF2-40B4-BE49-F238E27FC236}">
              <a16:creationId xmlns:a16="http://schemas.microsoft.com/office/drawing/2014/main" id="{15E5C0AA-BBEE-D568-3DDF-5DC97F496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8" name="Google Shape;168;p5">
            <a:extLst>
              <a:ext uri="{FF2B5EF4-FFF2-40B4-BE49-F238E27FC236}">
                <a16:creationId xmlns:a16="http://schemas.microsoft.com/office/drawing/2014/main" id="{F8532E15-C0E0-B449-31A0-3441D76AEC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5903042"/>
              </p:ext>
            </p:extLst>
          </p:nvPr>
        </p:nvGraphicFramePr>
        <p:xfrm>
          <a:off x="3439615" y="1292238"/>
          <a:ext cx="8128050" cy="1393320"/>
        </p:xfrm>
        <a:graphic>
          <a:graphicData uri="http://schemas.openxmlformats.org/drawingml/2006/table">
            <a:tbl>
              <a:tblPr firstRow="1" bandRow="1">
                <a:noFill/>
                <a:tableStyleId>{88C06543-E3CC-495D-A703-477479BDC3B9}</a:tableStyleId>
              </a:tblPr>
              <a:tblGrid>
                <a:gridCol w="116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13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C0C0C"/>
                          </a:solidFill>
                        </a:rPr>
                        <a:t>Prime Sedan</a:t>
                      </a: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C0C0C"/>
                          </a:solidFill>
                        </a:rPr>
                        <a:t>Prime SUV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C0C0C"/>
                          </a:solidFill>
                        </a:rPr>
                        <a:t>Prime Plus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C0C0C"/>
                          </a:solidFill>
                        </a:rPr>
                        <a:t>Mini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C0C0C"/>
                          </a:solidFill>
                        </a:rPr>
                        <a:t>Auto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C0C0C"/>
                          </a:solidFill>
                        </a:rPr>
                        <a:t>Bike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C0C0C"/>
                          </a:solidFill>
                        </a:rPr>
                        <a:t>E-Bike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/>
                        <a:t>3.99</a:t>
                      </a:r>
                      <a:endParaRPr sz="18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/>
                        <a:t>4.01</a:t>
                      </a:r>
                      <a:endParaRPr sz="18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/>
                        <a:t>4.00</a:t>
                      </a:r>
                      <a:endParaRPr sz="18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/>
                        <a:t>3.99</a:t>
                      </a:r>
                      <a:endParaRPr sz="18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/>
                        <a:t>4.00</a:t>
                      </a:r>
                      <a:endParaRPr sz="18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/>
                        <a:t>3.98</a:t>
                      </a:r>
                      <a:endParaRPr sz="18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/>
                        <a:t>4.01</a:t>
                      </a:r>
                      <a:endParaRPr sz="18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A958E00B-8898-CF24-9679-D6446D2DA67C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0CDED521-08AC-BE8B-C5BA-90D8E64A2824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>
            <a:extLst>
              <a:ext uri="{FF2B5EF4-FFF2-40B4-BE49-F238E27FC236}">
                <a16:creationId xmlns:a16="http://schemas.microsoft.com/office/drawing/2014/main" id="{4FB934A7-D871-CE02-9C47-BCF8FAEFAF3B}"/>
              </a:ext>
            </a:extLst>
          </p:cNvPr>
          <p:cNvSpPr/>
          <p:nvPr/>
        </p:nvSpPr>
        <p:spPr>
          <a:xfrm>
            <a:off x="0" y="5530674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5" descr="Scatterplot with solid fill">
            <a:extLst>
              <a:ext uri="{FF2B5EF4-FFF2-40B4-BE49-F238E27FC236}">
                <a16:creationId xmlns:a16="http://schemas.microsoft.com/office/drawing/2014/main" id="{68613D9E-9932-543D-B057-DFCC8734DB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5" descr="Car with solid fill">
            <a:extLst>
              <a:ext uri="{FF2B5EF4-FFF2-40B4-BE49-F238E27FC236}">
                <a16:creationId xmlns:a16="http://schemas.microsoft.com/office/drawing/2014/main" id="{E2E9BE19-9945-1036-E9FD-F0ABDC86EBE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331" y="213859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5" descr="Rupee with solid fill">
            <a:extLst>
              <a:ext uri="{FF2B5EF4-FFF2-40B4-BE49-F238E27FC236}">
                <a16:creationId xmlns:a16="http://schemas.microsoft.com/office/drawing/2014/main" id="{2DD9B03C-EE51-370E-D323-726A49B1DC8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522" y="3431194"/>
            <a:ext cx="567128" cy="567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5" descr="Crash with solid fill">
            <a:extLst>
              <a:ext uri="{FF2B5EF4-FFF2-40B4-BE49-F238E27FC236}">
                <a16:creationId xmlns:a16="http://schemas.microsoft.com/office/drawing/2014/main" id="{5B8669DF-6F77-7772-9498-6E2989AFD6F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7343" y="423281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5" descr="Rating with solid fill">
            <a:extLst>
              <a:ext uri="{FF2B5EF4-FFF2-40B4-BE49-F238E27FC236}">
                <a16:creationId xmlns:a16="http://schemas.microsoft.com/office/drawing/2014/main" id="{C3A99FBC-74D3-9729-9C33-BA10C575C02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4886" y="555925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AFE5B134-E25E-72AD-AC55-F41991C221AD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Overall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p5">
            <a:extLst>
              <a:ext uri="{FF2B5EF4-FFF2-40B4-BE49-F238E27FC236}">
                <a16:creationId xmlns:a16="http://schemas.microsoft.com/office/drawing/2014/main" id="{399CE12C-8EEC-3221-2609-211EE29D9FED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Vehicle Type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9" name="Google Shape;179;p5">
            <a:extLst>
              <a:ext uri="{FF2B5EF4-FFF2-40B4-BE49-F238E27FC236}">
                <a16:creationId xmlns:a16="http://schemas.microsoft.com/office/drawing/2014/main" id="{33D82F6B-42E7-8AF6-E101-B31DACC9994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0" name="Google Shape;180;p5">
            <a:extLst>
              <a:ext uri="{FF2B5EF4-FFF2-40B4-BE49-F238E27FC236}">
                <a16:creationId xmlns:a16="http://schemas.microsoft.com/office/drawing/2014/main" id="{98CC3C51-486C-9854-BDC8-40F7484C42CC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Cancellation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5">
            <a:extLst>
              <a:ext uri="{FF2B5EF4-FFF2-40B4-BE49-F238E27FC236}">
                <a16:creationId xmlns:a16="http://schemas.microsoft.com/office/drawing/2014/main" id="{AF7F9817-556C-249D-4A42-A712F40D4D51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Ratings</a:t>
            </a:r>
            <a:endParaRPr sz="2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2" name="Google Shape;182;p5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65910930-8625-5288-1215-334C1920801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5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19BB852E-F81D-8BF0-94A5-5AC0FB7D69D3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F79CC22-1515-6A9C-F546-EAFADA63CBBE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582022" y="1159757"/>
            <a:ext cx="956874" cy="956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FE771CC-7999-CC5F-5246-9B0AE14D4F7C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90740" y="1199319"/>
            <a:ext cx="855461" cy="855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315EE31-6653-D5C1-988C-30B224C82845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068690" y="1277633"/>
            <a:ext cx="855461" cy="855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B066164-6AB8-3406-51B2-195F66FE43E7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439474" y="1388181"/>
            <a:ext cx="457234" cy="457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F948D45-B9BD-4215-54BE-D3AE62C032C9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426701" y="1240443"/>
            <a:ext cx="722459" cy="722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9DAA921-8453-5C1C-4ECD-0843087F0FCF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714204" y="1361493"/>
            <a:ext cx="457234" cy="457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1FFEDFA-00B3-E116-6FA8-0B87C9A2A6EE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14725" y="1210463"/>
            <a:ext cx="855461" cy="85546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1" name="Google Shape;191;p5">
            <a:extLst>
              <a:ext uri="{FF2B5EF4-FFF2-40B4-BE49-F238E27FC236}">
                <a16:creationId xmlns:a16="http://schemas.microsoft.com/office/drawing/2014/main" id="{8226A7BD-0D38-F2DD-A19F-0F9A44B4DD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3741574"/>
              </p:ext>
            </p:extLst>
          </p:nvPr>
        </p:nvGraphicFramePr>
        <p:xfrm>
          <a:off x="3472094" y="4586443"/>
          <a:ext cx="8128050" cy="1393320"/>
        </p:xfrm>
        <a:graphic>
          <a:graphicData uri="http://schemas.openxmlformats.org/drawingml/2006/table">
            <a:tbl>
              <a:tblPr firstRow="1" bandRow="1">
                <a:noFill/>
                <a:tableStyleId>{88C06543-E3CC-495D-A703-477479BDC3B9}</a:tableStyleId>
              </a:tblPr>
              <a:tblGrid>
                <a:gridCol w="116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1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13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C0C0C"/>
                          </a:solidFill>
                        </a:rPr>
                        <a:t>Prime Sedan</a:t>
                      </a:r>
                      <a:endParaRPr sz="1200">
                        <a:solidFill>
                          <a:srgbClr val="0C0C0C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C0C0C"/>
                          </a:solidFill>
                        </a:rPr>
                        <a:t>Prime SUV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C0C0C"/>
                          </a:solidFill>
                        </a:rPr>
                        <a:t>Prime Plus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C0C0C"/>
                          </a:solidFill>
                        </a:rPr>
                        <a:t>Mini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C0C0C"/>
                          </a:solidFill>
                        </a:rPr>
                        <a:t>Auto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C0C0C"/>
                          </a:solidFill>
                        </a:rPr>
                        <a:t>Bike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0C0C0C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C0C0C"/>
                          </a:solidFill>
                        </a:rPr>
                        <a:t>E-Bike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/>
                        <a:t>4.00</a:t>
                      </a:r>
                      <a:endParaRPr sz="18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/>
                        <a:t>4.00</a:t>
                      </a:r>
                      <a:endParaRPr sz="18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/>
                        <a:t>4.01</a:t>
                      </a:r>
                      <a:endParaRPr sz="18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/>
                        <a:t>4.00</a:t>
                      </a:r>
                      <a:endParaRPr sz="18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/>
                        <a:t>4.00</a:t>
                      </a:r>
                      <a:endParaRPr sz="18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/>
                        <a:t>3.99</a:t>
                      </a:r>
                      <a:endParaRPr sz="18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/>
                        <a:t>3.99</a:t>
                      </a:r>
                      <a:endParaRPr sz="18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92" name="Google Shape;192;p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3EC17F8-04DA-C0BA-9E8D-205891DC262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614501" y="4453962"/>
            <a:ext cx="956874" cy="956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541AF61-C498-B4C4-6E7F-387AC91C67BB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23219" y="4493524"/>
            <a:ext cx="855461" cy="855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31BDE5D-6BD5-C6E6-7BB8-49BFCDBA9959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101169" y="4571838"/>
            <a:ext cx="855461" cy="855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A13FA72-3ADF-E6F2-DFF6-C80989D7FADA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471953" y="4682386"/>
            <a:ext cx="457234" cy="457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463B2F3-17DD-6325-040B-547AB0FC3612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459180" y="4534648"/>
            <a:ext cx="722459" cy="722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1E5478F-D731-68E6-4B3D-C5F8E6B0CA2F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746683" y="4655698"/>
            <a:ext cx="457234" cy="457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53D7738-8F68-85E9-9139-FF86BD5DE07E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47204" y="4504668"/>
            <a:ext cx="855461" cy="85546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89E363-5048-A240-F77F-288C4C9D5567}"/>
              </a:ext>
            </a:extLst>
          </p:cNvPr>
          <p:cNvSpPr txBox="1"/>
          <p:nvPr/>
        </p:nvSpPr>
        <p:spPr>
          <a:xfrm>
            <a:off x="3439615" y="446927"/>
            <a:ext cx="48981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Driver Ratings: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476989-C868-9150-925D-68FC85505919}"/>
              </a:ext>
            </a:extLst>
          </p:cNvPr>
          <p:cNvSpPr txBox="1"/>
          <p:nvPr/>
        </p:nvSpPr>
        <p:spPr>
          <a:xfrm>
            <a:off x="3421506" y="3755906"/>
            <a:ext cx="48981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Customer Ratings: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699B3E-3CA1-8E37-744D-E1B52E6FA269}"/>
              </a:ext>
            </a:extLst>
          </p:cNvPr>
          <p:cNvSpPr txBox="1"/>
          <p:nvPr/>
        </p:nvSpPr>
        <p:spPr>
          <a:xfrm>
            <a:off x="11203917" y="1182"/>
            <a:ext cx="121515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000" dirty="0"/>
              <a:t>⭐</a:t>
            </a:r>
            <a:endParaRPr lang="en-IN" sz="5000" dirty="0"/>
          </a:p>
        </p:txBody>
      </p:sp>
    </p:spTree>
    <p:extLst>
      <p:ext uri="{BB962C8B-B14F-4D97-AF65-F5344CB8AC3E}">
        <p14:creationId xmlns:p14="http://schemas.microsoft.com/office/powerpoint/2010/main" val="1028431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164</Words>
  <Application>Microsoft Office PowerPoint</Application>
  <PresentationFormat>Widescreen</PresentationFormat>
  <Paragraphs>162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Play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Vishal Gajanan</dc:creator>
  <cp:lastModifiedBy>akshaya.82000@gmail.com</cp:lastModifiedBy>
  <cp:revision>2</cp:revision>
  <dcterms:created xsi:type="dcterms:W3CDTF">2024-10-05T18:58:27Z</dcterms:created>
  <dcterms:modified xsi:type="dcterms:W3CDTF">2026-06-09T06:55:17Z</dcterms:modified>
</cp:coreProperties>
</file>